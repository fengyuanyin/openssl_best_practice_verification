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0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.png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2.png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3.png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hyperlink" Target="https://karmada.io/docs/administrator/security/component-permission/" TargetMode="External"/><Relationship Id="rId7" Type="http://schemas.openxmlformats.org/officeDocument/2006/relationships/hyperlink" Target="https://karmada.io/docs/administrator/security/verify-artifacts/" TargetMode="External"/><Relationship Id="rId6" Type="http://schemas.openxmlformats.org/officeDocument/2006/relationships/hyperlink" Target="https://karmada.io/docs/administrator/configuration/configure-controllers/#optional-controllers" TargetMode="External"/><Relationship Id="rId5" Type="http://schemas.openxmlformats.org/officeDocument/2006/relationships/hyperlink" Target="https://karmada.io/docs/administrator/security/security-considerations/" TargetMode="External"/><Relationship Id="rId4" Type="http://schemas.openxmlformats.org/officeDocument/2006/relationships/hyperlink" Target="https://github.com/karmada-io/community/blob/main/security-team/SECURITY.md" TargetMode="External"/><Relationship Id="rId3" Type="http://schemas.openxmlformats.org/officeDocument/2006/relationships/hyperlink" Target="https://github.com/karmada-io/community/blob/main/security-team/assessments/self-assessment.md" TargetMode="External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5.png"/><Relationship Id="rId1" Type="http://schemas.openxmlformats.org/officeDocument/2006/relationships/tags" Target="../tags/tag7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6.png"/><Relationship Id="rId1" Type="http://schemas.openxmlformats.org/officeDocument/2006/relationships/tags" Target="../tags/tag7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7.png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8.png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9.png"/><Relationship Id="rId1" Type="http://schemas.openxmlformats.org/officeDocument/2006/relationships/tags" Target="../tags/tag83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6.xml"/><Relationship Id="rId5" Type="http://schemas.openxmlformats.org/officeDocument/2006/relationships/image" Target="../media/image10.png"/><Relationship Id="rId4" Type="http://schemas.openxmlformats.org/officeDocument/2006/relationships/hyperlink" Target="https://github.com/karmada-io/karmada/blob/master/Makefile" TargetMode="External"/><Relationship Id="rId3" Type="http://schemas.openxmlformats.org/officeDocument/2006/relationships/hyperlink" Target="https://github.com/karmada-io/karmada/blob/master/hack/util.sh" TargetMode="External"/><Relationship Id="rId2" Type="http://schemas.openxmlformats.org/officeDocument/2006/relationships/hyperlink" Target="https://github.com/karmada-io/karmada/blob/master/hack/build.sh" TargetMode="External"/><Relationship Id="rId1" Type="http://schemas.openxmlformats.org/officeDocument/2006/relationships/tags" Target="../tags/tag85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8.xml"/><Relationship Id="rId2" Type="http://schemas.openxmlformats.org/officeDocument/2006/relationships/image" Target="../media/image11.png"/><Relationship Id="rId1" Type="http://schemas.openxmlformats.org/officeDocument/2006/relationships/tags" Target="../tags/tag87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0.xml"/><Relationship Id="rId2" Type="http://schemas.openxmlformats.org/officeDocument/2006/relationships/image" Target="../media/image12.png"/><Relationship Id="rId1" Type="http://schemas.openxmlformats.org/officeDocument/2006/relationships/tags" Target="../tags/tag89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2.xml"/><Relationship Id="rId2" Type="http://schemas.openxmlformats.org/officeDocument/2006/relationships/image" Target="../media/image13.png"/><Relationship Id="rId1" Type="http://schemas.openxmlformats.org/officeDocument/2006/relationships/tags" Target="../tags/tag9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4.xml"/><Relationship Id="rId2" Type="http://schemas.openxmlformats.org/officeDocument/2006/relationships/image" Target="../media/image14.png"/><Relationship Id="rId1" Type="http://schemas.openxmlformats.org/officeDocument/2006/relationships/tags" Target="../tags/tag93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6.xml"/><Relationship Id="rId2" Type="http://schemas.openxmlformats.org/officeDocument/2006/relationships/image" Target="../media/image15.png"/><Relationship Id="rId1" Type="http://schemas.openxmlformats.org/officeDocument/2006/relationships/tags" Target="../tags/tag9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98.xml"/><Relationship Id="rId2" Type="http://schemas.openxmlformats.org/officeDocument/2006/relationships/image" Target="../media/image16.png"/><Relationship Id="rId1" Type="http://schemas.openxmlformats.org/officeDocument/2006/relationships/tags" Target="../tags/tag9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0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99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2.xml"/><Relationship Id="rId2" Type="http://schemas.openxmlformats.org/officeDocument/2006/relationships/image" Target="../media/image19.png"/><Relationship Id="rId1" Type="http://schemas.openxmlformats.org/officeDocument/2006/relationships/tags" Target="../tags/tag101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4.xml"/><Relationship Id="rId2" Type="http://schemas.openxmlformats.org/officeDocument/2006/relationships/image" Target="../media/image20.png"/><Relationship Id="rId1" Type="http://schemas.openxmlformats.org/officeDocument/2006/relationships/tags" Target="../tags/tag103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image" Target="../media/image21.png"/><Relationship Id="rId1" Type="http://schemas.openxmlformats.org/officeDocument/2006/relationships/tags" Target="../tags/tag10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11464925" cy="2874010"/>
          </a:xfrm>
        </p:spPr>
        <p:txBody>
          <a:bodyPr/>
          <a:p>
            <a:r>
              <a:rPr lang="en-US" altLang="zh-CN"/>
              <a:t>Karmada OpenSSF Best Practices Silver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11464925" cy="866775"/>
          </a:xfrm>
        </p:spPr>
        <p:txBody>
          <a:bodyPr>
            <a:normAutofit fontScale="90000"/>
          </a:bodyPr>
          <a:p>
            <a:r>
              <a:rPr lang="zh-CN" altLang="en-US"/>
              <a:t>总览</a:t>
            </a:r>
            <a:r>
              <a:rPr lang="zh-CN" altLang="en-US"/>
              <a:t>统计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1828800" y="1334770"/>
          <a:ext cx="853376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must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should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40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UnMet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N/A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?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Total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965325" y="4902200"/>
            <a:ext cx="8905240" cy="92646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en-US" altLang="zh-CN" sz="1600" b="0" i="0">
                <a:solidFill>
                  <a:srgbClr val="839496"/>
                </a:solidFill>
                <a:latin typeface="-apple-system"/>
                <a:ea typeface="-apple-system"/>
              </a:rPr>
              <a:t> </a:t>
            </a:r>
            <a:r>
              <a:rPr 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Must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是必须满足的条目，</a:t>
            </a:r>
            <a:r>
              <a:rPr lang="en-US" altLang="zh-CN" sz="1600" b="0" i="0">
                <a:solidFill>
                  <a:schemeClr val="tx1"/>
                </a:solidFill>
                <a:latin typeface="-apple-system"/>
                <a:ea typeface="-apple-system"/>
              </a:rPr>
              <a:t>Should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是应该满足，不满足的情况下需要说明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理由。</a:t>
            </a:r>
            <a:endParaRPr lang="zh-CN" altLang="en-US" sz="1600" b="0" i="0">
              <a:solidFill>
                <a:schemeClr val="tx1"/>
              </a:solidFill>
              <a:latin typeface="-apple-system"/>
              <a:ea typeface="-apple-system"/>
            </a:endParaRPr>
          </a:p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-apple-system"/>
                <a:ea typeface="-apple-system"/>
              </a:rPr>
              <a:t>Met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指满足条件，</a:t>
            </a:r>
            <a:r>
              <a:rPr lang="en-US" altLang="zh-CN" sz="1600" b="0" i="0">
                <a:solidFill>
                  <a:schemeClr val="tx1"/>
                </a:solidFill>
                <a:latin typeface="-apple-system"/>
                <a:ea typeface="-apple-system"/>
              </a:rPr>
              <a:t>Unmet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是不满足条件，</a:t>
            </a:r>
            <a:r>
              <a:rPr lang="en-US" altLang="zh-CN" sz="1600" b="0" i="0">
                <a:solidFill>
                  <a:schemeClr val="tx1"/>
                </a:solidFill>
                <a:latin typeface="-apple-system"/>
                <a:ea typeface="-apple-system"/>
              </a:rPr>
              <a:t> N/A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-apple-system"/>
              </a:rPr>
              <a:t>指此项目不需要考察这一项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宋体" panose="02010600030101010101" pitchFamily="2" charset="-122"/>
              </a:rPr>
              <a:t>，</a:t>
            </a:r>
            <a:r>
              <a:rPr lang="en-US" altLang="zh-CN" sz="1600" b="0" i="0">
                <a:solidFill>
                  <a:schemeClr val="tx1"/>
                </a:solidFill>
                <a:latin typeface="-apple-system"/>
                <a:ea typeface="宋体" panose="02010600030101010101" pitchFamily="2" charset="-122"/>
              </a:rPr>
              <a:t> 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宋体" panose="02010600030101010101" pitchFamily="2" charset="-122"/>
              </a:rPr>
              <a:t>？</a:t>
            </a:r>
            <a:r>
              <a:rPr lang="zh-CN" altLang="en-US" sz="1600" b="0" i="0">
                <a:solidFill>
                  <a:schemeClr val="tx1"/>
                </a:solidFill>
                <a:latin typeface="-apple-system"/>
                <a:ea typeface="宋体" panose="02010600030101010101" pitchFamily="2" charset="-122"/>
              </a:rPr>
              <a:t>指不确定</a:t>
            </a:r>
            <a:endParaRPr lang="zh-CN" altLang="en-US" sz="1600" b="0" i="0">
              <a:solidFill>
                <a:schemeClr val="tx1"/>
              </a:solidFill>
              <a:latin typeface="-apple-system"/>
              <a:ea typeface="宋体" panose="02010600030101010101" pitchFamily="2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7035800" cy="866775"/>
          </a:xfrm>
        </p:spPr>
        <p:txBody>
          <a:bodyPr>
            <a:normAutofit fontScale="90000"/>
          </a:bodyPr>
          <a:p>
            <a:pPr marL="0" indent="0" algn="l"/>
            <a:r>
              <a:rPr lang="en-US" altLang="zh-CN"/>
              <a:t>Met</a:t>
            </a:r>
            <a:r>
              <a:rPr lang="zh-CN" altLang="en-US"/>
              <a:t>，</a:t>
            </a:r>
            <a:r>
              <a:rPr lang="en-US" altLang="zh-CN"/>
              <a:t>U</a:t>
            </a:r>
            <a:r>
              <a:rPr lang="en-US" altLang="zh-CN"/>
              <a:t>met, N/A, ?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1049655"/>
            <a:ext cx="8529320" cy="28809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12555" y="1793240"/>
            <a:ext cx="3179445" cy="1206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openssf</a:t>
            </a:r>
            <a:r>
              <a:rPr lang="zh-CN" altLang="en-US"/>
              <a:t>属于是一个问卷形式的审核方式，通过填写选项并给出依据判断是否达到</a:t>
            </a:r>
            <a:r>
              <a:rPr lang="zh-CN" altLang="en-US"/>
              <a:t>标准。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364045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项目</a:t>
            </a:r>
            <a:r>
              <a:rPr lang="zh-CN" altLang="en-US"/>
              <a:t>监督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55130" y="1279525"/>
            <a:ext cx="5331460" cy="1060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should </a:t>
            </a:r>
            <a:r>
              <a:rPr lang="zh-CN" altLang="en-US" sz="1200"/>
              <a:t>类别：要求提交使用 </a:t>
            </a:r>
            <a:r>
              <a:rPr lang="en-US" altLang="zh-CN" sz="1200"/>
              <a:t>git commit -s </a:t>
            </a:r>
            <a:r>
              <a:rPr lang="zh-CN" altLang="en-US" sz="1200"/>
              <a:t>添加 </a:t>
            </a:r>
            <a:r>
              <a:rPr lang="en-US" altLang="zh-CN" sz="1200"/>
              <a:t>Signed-off-by </a:t>
            </a:r>
            <a:r>
              <a:rPr lang="zh-CN" altLang="en-US" sz="1200"/>
              <a:t>并解释其法律含义，同时启用 </a:t>
            </a:r>
            <a:r>
              <a:rPr lang="en-US" altLang="zh-CN" sz="1200"/>
              <a:t>DCO </a:t>
            </a:r>
            <a:r>
              <a:rPr lang="zh-CN" altLang="en-US" sz="1200"/>
              <a:t>机器人（如 </a:t>
            </a:r>
            <a:r>
              <a:rPr lang="en-US" altLang="zh-CN" sz="1200"/>
              <a:t>probot/dco）</a:t>
            </a:r>
            <a:r>
              <a:rPr lang="zh-CN" altLang="en-US" sz="1200"/>
              <a:t>在 </a:t>
            </a:r>
            <a:r>
              <a:rPr lang="en-US" altLang="zh-CN" sz="1200"/>
              <a:t>CI </a:t>
            </a:r>
            <a:r>
              <a:rPr lang="zh-CN" altLang="en-US" sz="1200"/>
              <a:t>中强制校验。</a:t>
            </a:r>
            <a:r>
              <a:rPr lang="en-US" altLang="zh-CN" sz="1200">
                <a:solidFill>
                  <a:srgbClr val="FF0000"/>
                </a:solidFill>
              </a:rPr>
              <a:t>Unmet:https://github.com/karmadaio/karmada/blob/master/CONTRIBUTING.md</a:t>
            </a:r>
            <a:r>
              <a:rPr lang="zh-CN" altLang="en-US" sz="1200">
                <a:solidFill>
                  <a:srgbClr val="FF0000"/>
                </a:solidFill>
              </a:rPr>
              <a:t>没有明确说明需要使用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使用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git commit -s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添加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Signed-off-by 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55130" y="2100580"/>
            <a:ext cx="5331460" cy="124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类别：项目必须公开定义治理价值观，成员制度，维护者选拔与投票，</a:t>
            </a:r>
            <a:r>
              <a:rPr lang="en-US" altLang="zh-CN" sz="1200"/>
              <a:t>security response</a:t>
            </a:r>
            <a:r>
              <a:rPr lang="zh-CN" altLang="en-US" sz="1200"/>
              <a:t>等决策方式和治理模式。</a:t>
            </a:r>
            <a:r>
              <a:rPr lang="en-US" altLang="zh-CN" sz="1200"/>
              <a:t>    </a:t>
            </a:r>
            <a:r>
              <a:rPr lang="en-US" altLang="zh-CN" sz="1200">
                <a:solidFill>
                  <a:srgbClr val="FF0000"/>
                </a:solidFill>
              </a:rPr>
              <a:t>Met:https://github.com/karmadaio/community/blob/main/GOVERNANCE.md</a:t>
            </a:r>
            <a:r>
              <a:rPr lang="zh-CN" altLang="en-US" sz="1200">
                <a:solidFill>
                  <a:srgbClr val="FF0000"/>
                </a:solidFill>
              </a:rPr>
              <a:t>这里包含了</a:t>
            </a:r>
            <a:r>
              <a:rPr lang="en-US" altLang="zh-CN" sz="1200">
                <a:solidFill>
                  <a:srgbClr val="FF0000"/>
                </a:solidFill>
              </a:rPr>
              <a:t>karmada</a:t>
            </a:r>
            <a:r>
              <a:rPr lang="zh-CN" altLang="en-US" sz="1200">
                <a:solidFill>
                  <a:srgbClr val="FF0000"/>
                </a:solidFill>
              </a:rPr>
              <a:t>项目的</a:t>
            </a:r>
            <a:r>
              <a:rPr lang="en-US" altLang="zh-CN" sz="1200">
                <a:solidFill>
                  <a:srgbClr val="FF0000"/>
                </a:solidFill>
              </a:rPr>
              <a:t>Values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Membership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Meetings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CNCF Resources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Code of Conduct Enforcement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Security Response Team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Voting</a:t>
            </a:r>
            <a:r>
              <a:rPr lang="zh-CN" altLang="en-US" sz="1200">
                <a:solidFill>
                  <a:srgbClr val="FF0000"/>
                </a:solidFill>
              </a:rPr>
              <a:t>，</a:t>
            </a:r>
            <a:r>
              <a:rPr lang="en-US" altLang="zh-CN" sz="1200">
                <a:solidFill>
                  <a:srgbClr val="FF0000"/>
                </a:solidFill>
              </a:rPr>
              <a:t>Modifications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845300" y="2128520"/>
            <a:ext cx="5255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755130" y="3340735"/>
            <a:ext cx="5331460" cy="1240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类别：该项目必须采取行为守则，并将其发布在标准的位置。 (需要网址) [</a:t>
            </a:r>
            <a:r>
              <a:rPr lang="en-US" altLang="zh-CN" sz="1200"/>
              <a:t>code_of_conduct]    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Met:</a:t>
            </a:r>
            <a:r>
              <a:rPr lang="zh-CN" altLang="en-US" sz="1200">
                <a:solidFill>
                  <a:srgbClr val="FF0000"/>
                </a:solidFill>
              </a:rPr>
              <a:t> 主仓库根目录标准位置存在</a:t>
            </a:r>
            <a:r>
              <a:rPr lang="en-US" altLang="zh-CN" sz="1200">
                <a:solidFill>
                  <a:srgbClr val="FF0000"/>
                </a:solidFill>
              </a:rPr>
              <a:t>CODE_OF_CONDUCT.md </a:t>
            </a:r>
            <a:r>
              <a:rPr lang="zh-CN" altLang="en-US" sz="1200">
                <a:solidFill>
                  <a:srgbClr val="FF0000"/>
                </a:solidFill>
              </a:rPr>
              <a:t>与</a:t>
            </a:r>
            <a:r>
              <a:rPr lang="en-US" altLang="zh-CN" sz="1200">
                <a:solidFill>
                  <a:srgbClr val="FF0000"/>
                </a:solidFill>
              </a:rPr>
              <a:t>   GOVERNANCE.md </a:t>
            </a:r>
            <a:r>
              <a:rPr lang="zh-CN" altLang="en-US" sz="1200">
                <a:solidFill>
                  <a:srgbClr val="FF0000"/>
                </a:solidFill>
              </a:rPr>
              <a:t>均链接引用。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https://github.com/karmada-io/karmada/blob/master/CODE_OF_CONDUCT.md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6845300" y="3375660"/>
            <a:ext cx="5255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6755130" y="4411345"/>
            <a:ext cx="5331460" cy="1884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类别：该项目必须公开了具体人员与职责范围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Met:</a:t>
            </a:r>
            <a:r>
              <a:rPr lang="zh-CN" altLang="en-US" sz="1200">
                <a:solidFill>
                  <a:srgbClr val="FF0000"/>
                </a:solidFill>
              </a:rPr>
              <a:t> </a:t>
            </a:r>
            <a:r>
              <a:rPr lang="en-US" altLang="zh-CN" sz="1200">
                <a:solidFill>
                  <a:srgbClr val="FF0000"/>
                </a:solidFill>
              </a:rPr>
              <a:t>community-membership.md </a:t>
            </a:r>
            <a:r>
              <a:rPr lang="zh-CN" altLang="en-US" sz="1200">
                <a:solidFill>
                  <a:srgbClr val="FF0000"/>
                </a:solidFill>
              </a:rPr>
              <a:t>定义 </a:t>
            </a:r>
            <a:r>
              <a:rPr lang="en-US" altLang="zh-CN" sz="1200">
                <a:solidFill>
                  <a:srgbClr val="FF0000"/>
                </a:solidFill>
              </a:rPr>
              <a:t>Member/Reviewer/Approver/Maintainer </a:t>
            </a:r>
            <a:r>
              <a:rPr lang="zh-CN" altLang="en-US" sz="1200">
                <a:solidFill>
                  <a:srgbClr val="FF0000"/>
                </a:solidFill>
              </a:rPr>
              <a:t>的职责、要求与权限；</a:t>
            </a:r>
            <a:r>
              <a:rPr lang="en-US" altLang="zh-CN" sz="1200">
                <a:solidFill>
                  <a:srgbClr val="FF0000"/>
                </a:solidFill>
              </a:rPr>
              <a:t>MAINTAINERS.md、APPROVERS.md、REVIEWERS.md </a:t>
            </a:r>
            <a:r>
              <a:rPr lang="zh-CN" altLang="en-US" sz="1200">
                <a:solidFill>
                  <a:srgbClr val="FF0000"/>
                </a:solidFill>
              </a:rPr>
              <a:t>及仓库 </a:t>
            </a:r>
            <a:r>
              <a:rPr lang="en-US" altLang="zh-CN" sz="1200">
                <a:solidFill>
                  <a:srgbClr val="FF0000"/>
                </a:solidFill>
              </a:rPr>
              <a:t>OWNERS </a:t>
            </a:r>
            <a:r>
              <a:rPr lang="zh-CN" altLang="en-US" sz="1200">
                <a:solidFill>
                  <a:srgbClr val="FF0000"/>
                </a:solidFill>
              </a:rPr>
              <a:t>文件公开了具体人员与职责范围。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https://github.com/karmada-io/community/blob/main/community-membership.md ; https://github.com/karmada-io/community/blob/main/MAINTAINERS.md ; https://github.com/karmada-io/community/blob/main/APPROVERS.md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6845300" y="4446270"/>
            <a:ext cx="5255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" y="1129665"/>
            <a:ext cx="6588760" cy="4140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364045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项目</a:t>
            </a:r>
            <a:r>
              <a:rPr lang="zh-CN" altLang="en-US"/>
              <a:t>监督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755130" y="1408430"/>
            <a:ext cx="5331460" cy="1060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类别：要求项目在某一个负责人丧生之后，能够在一周内有其他人能够接管整个项目。需要使用网址证明项目具备这个能力类似于</a:t>
            </a:r>
            <a:r>
              <a:rPr lang="en-US" altLang="zh-CN" sz="1200"/>
              <a:t>access_continuity.md</a:t>
            </a:r>
            <a:r>
              <a:rPr lang="zh-CN" altLang="en-US" sz="1200"/>
              <a:t>这种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0000"/>
                </a:solidFill>
                <a:sym typeface="+mn-ea"/>
              </a:rPr>
              <a:t>没找到依据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55130" y="2683510"/>
            <a:ext cx="5331460" cy="1644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类别：项目需要说明</a:t>
            </a:r>
            <a:r>
              <a:rPr lang="en-US" altLang="zh-CN" sz="1200"/>
              <a:t>bust_factor</a:t>
            </a:r>
            <a:r>
              <a:rPr lang="zh-CN" altLang="en-US" sz="1200"/>
              <a:t>是</a:t>
            </a:r>
            <a:r>
              <a:rPr lang="zh-CN" altLang="en-US" sz="1200"/>
              <a:t>多少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/>
              <a:t>这个可以通过开源项目</a:t>
            </a:r>
            <a:r>
              <a:rPr lang="en-US" altLang="zh-CN" sz="1200"/>
              <a:t>https://github.com/aserg-ufmg/Truck-Factor</a:t>
            </a:r>
            <a:r>
              <a:rPr lang="zh-CN" altLang="en-US" sz="1200"/>
              <a:t>来</a:t>
            </a:r>
            <a:r>
              <a:rPr lang="zh-CN" altLang="en-US" sz="1200"/>
              <a:t>统计。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13 名 </a:t>
            </a:r>
            <a:r>
              <a:rPr lang="en-US" altLang="zh-CN" sz="1200">
                <a:solidFill>
                  <a:srgbClr val="FF0000"/>
                </a:solidFill>
              </a:rPr>
              <a:t>active maintainers </a:t>
            </a:r>
            <a:r>
              <a:rPr lang="zh-CN" altLang="en-US" sz="1200">
                <a:solidFill>
                  <a:srgbClr val="FF0000"/>
                </a:solidFill>
              </a:rPr>
              <a:t>来自华为、</a:t>
            </a:r>
            <a:r>
              <a:rPr lang="en-US" altLang="zh-CN" sz="1200">
                <a:solidFill>
                  <a:srgbClr val="FF0000"/>
                </a:solidFill>
              </a:rPr>
              <a:t>Bloomberg、</a:t>
            </a:r>
            <a:r>
              <a:rPr lang="zh-CN" altLang="en-US" sz="1200">
                <a:solidFill>
                  <a:srgbClr val="FF0000"/>
                </a:solidFill>
              </a:rPr>
              <a:t>字节跳动、阿里云、</a:t>
            </a:r>
            <a:r>
              <a:rPr lang="en-US" altLang="zh-CN" sz="1200">
                <a:solidFill>
                  <a:srgbClr val="FF0000"/>
                </a:solidFill>
              </a:rPr>
              <a:t>DaoCloud、CECloud、Trip.com </a:t>
            </a:r>
            <a:r>
              <a:rPr lang="zh-CN" altLang="en-US" sz="1200">
                <a:solidFill>
                  <a:srgbClr val="FF0000"/>
                </a:solidFill>
              </a:rPr>
              <a:t>等多个组织，另有 27 名 </a:t>
            </a:r>
            <a:r>
              <a:rPr lang="en-US" altLang="zh-CN" sz="1200">
                <a:solidFill>
                  <a:srgbClr val="FF0000"/>
                </a:solidFill>
              </a:rPr>
              <a:t>approver；</a:t>
            </a:r>
            <a:r>
              <a:rPr lang="zh-CN" altLang="en-US" sz="1200">
                <a:solidFill>
                  <a:srgbClr val="FF0000"/>
                </a:solidFill>
              </a:rPr>
              <a:t>单一组织或单一个人无法阻塞 </a:t>
            </a:r>
            <a:r>
              <a:rPr lang="en-US" altLang="zh-CN" sz="1200">
                <a:solidFill>
                  <a:srgbClr val="FF0000"/>
                </a:solidFill>
              </a:rPr>
              <a:t>issue/PR/</a:t>
            </a:r>
            <a:r>
              <a:rPr lang="zh-CN" altLang="en-US" sz="1200">
                <a:solidFill>
                  <a:srgbClr val="FF0000"/>
                </a:solidFill>
              </a:rPr>
              <a:t>发布。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https://github.com/karmada-io/community/blob/main/MAINTAINERS.md ; https://github.com/karmada-io/community/blob/main/APPROVERS.md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830695" y="2468880"/>
            <a:ext cx="52558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" y="1408430"/>
            <a:ext cx="6031865" cy="2311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11265" y="4385310"/>
            <a:ext cx="34994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TF = 2 (coverage = 41.09%)</a:t>
            </a:r>
            <a:endParaRPr lang="en-US" altLang="zh-CN"/>
          </a:p>
          <a:p>
            <a:r>
              <a:rPr lang="en-US" altLang="zh-CN"/>
              <a:t>TF authors:</a:t>
            </a:r>
            <a:endParaRPr lang="en-US" altLang="zh-CN"/>
          </a:p>
          <a:p>
            <a:r>
              <a:rPr lang="en-US" altLang="zh-CN"/>
              <a:t>RainbowMango;8148;70.10%</a:t>
            </a:r>
            <a:endParaRPr lang="en-US" altLang="zh-CN"/>
          </a:p>
          <a:p>
            <a:r>
              <a:rPr lang="en-US" altLang="zh-CN"/>
              <a:t>Kevin Wang;1492;12.84%</a:t>
            </a:r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7067550" y="3077845"/>
            <a:ext cx="3540760" cy="12496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364045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文档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900"/>
            <a:ext cx="6514465" cy="26746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4005" y="113030"/>
            <a:ext cx="5500370" cy="196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类别：要求项目有一个描述未来一年计划的</a:t>
            </a:r>
            <a:r>
              <a:rPr lang="zh-CN" altLang="en-US" sz="1200"/>
              <a:t>文档，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Unmet: https://github.com/karmadaio/community/blob/main/ROADMAP.md </a:t>
            </a:r>
            <a:r>
              <a:rPr lang="zh-CN" altLang="en-US" sz="1200">
                <a:solidFill>
                  <a:srgbClr val="FF0000"/>
                </a:solidFill>
              </a:rPr>
              <a:t>目前仅描述“2026 </a:t>
            </a:r>
            <a:r>
              <a:rPr lang="en-US" altLang="zh-CN" sz="1200">
                <a:solidFill>
                  <a:srgbClr val="FF0000"/>
                </a:solidFill>
              </a:rPr>
              <a:t>feature plan”；</a:t>
            </a:r>
            <a:r>
              <a:rPr lang="zh-CN" altLang="en-US" sz="1200">
                <a:solidFill>
                  <a:srgbClr val="FF0000"/>
                </a:solidFill>
              </a:rPr>
              <a:t>以 2026-08-19 为审计日，其时间范围不足未来一整年，也未明确写出“不做什么”的边界，</a:t>
            </a:r>
            <a:r>
              <a:rPr lang="en-US" altLang="zh-CN" sz="1200">
                <a:solidFill>
                  <a:srgbClr val="FF0000"/>
                </a:solidFill>
              </a:rPr>
              <a:t>Pending </a:t>
            </a:r>
            <a:r>
              <a:rPr lang="zh-CN" altLang="en-US" sz="1200">
                <a:solidFill>
                  <a:srgbClr val="FF0000"/>
                </a:solidFill>
              </a:rPr>
              <a:t>列表不能替代带时间范围的路线图。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https://github.com/karmada-io/community/blob/main/ROADMAP.md [improvement]: </a:t>
            </a:r>
            <a:r>
              <a:rPr lang="zh-CN" altLang="en-US" sz="1200">
                <a:solidFill>
                  <a:srgbClr val="FF0000"/>
                </a:solidFill>
              </a:rPr>
              <a:t>将 </a:t>
            </a:r>
            <a:r>
              <a:rPr lang="en-US" altLang="zh-CN" sz="1200">
                <a:solidFill>
                  <a:srgbClr val="FF0000"/>
                </a:solidFill>
              </a:rPr>
              <a:t>community/ROADMAP.md </a:t>
            </a:r>
            <a:r>
              <a:rPr lang="zh-CN" altLang="en-US" sz="1200">
                <a:solidFill>
                  <a:srgbClr val="FF0000"/>
                </a:solidFill>
              </a:rPr>
              <a:t>更新为覆盖审计日起至少一整年（至 2027-08 及以后）的分阶段计划，为每项计划写明时间窗与优先级，并明确列出排除在范围之外的工作。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91630" y="2133600"/>
            <a:ext cx="5500370" cy="19627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类别：要求项目有一个描述软件</a:t>
            </a:r>
            <a:r>
              <a:rPr lang="zh-CN" altLang="en-US" sz="1200"/>
              <a:t>架构的</a:t>
            </a:r>
            <a:r>
              <a:rPr lang="zh-CN" altLang="en-US" sz="1200"/>
              <a:t>文档，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Met: README </a:t>
            </a:r>
            <a:r>
              <a:rPr lang="zh-CN" altLang="en-US" sz="1200">
                <a:solidFill>
                  <a:srgbClr val="FF0000"/>
                </a:solidFill>
              </a:rPr>
              <a:t>提供架构图并说明控制面组件（</a:t>
            </a:r>
            <a:r>
              <a:rPr lang="en-US" altLang="zh-CN" sz="1200">
                <a:solidFill>
                  <a:srgbClr val="FF0000"/>
                </a:solidFill>
              </a:rPr>
              <a:t>API Server、Controller Manager、Scheduler、ETCD </a:t>
            </a:r>
            <a:r>
              <a:rPr lang="zh-CN" altLang="en-US" sz="1200">
                <a:solidFill>
                  <a:srgbClr val="FF0000"/>
                </a:solidFill>
              </a:rPr>
              <a:t>等）；官网 </a:t>
            </a:r>
            <a:r>
              <a:rPr lang="en-US" altLang="zh-CN" sz="1200">
                <a:solidFill>
                  <a:srgbClr val="FF0000"/>
                </a:solidFill>
              </a:rPr>
              <a:t>core-concepts/architecture </a:t>
            </a:r>
            <a:r>
              <a:rPr lang="zh-CN" altLang="en-US" sz="1200">
                <a:solidFill>
                  <a:srgbClr val="FF0000"/>
                </a:solidFill>
              </a:rPr>
              <a:t>与 </a:t>
            </a:r>
            <a:r>
              <a:rPr lang="en-US" altLang="zh-CN" sz="1200">
                <a:solidFill>
                  <a:srgbClr val="FF0000"/>
                </a:solidFill>
              </a:rPr>
              <a:t>security self-assessment </a:t>
            </a:r>
            <a:r>
              <a:rPr lang="zh-CN" altLang="en-US" sz="1200">
                <a:solidFill>
                  <a:srgbClr val="FF0000"/>
                </a:solidFill>
              </a:rPr>
              <a:t>详述 </a:t>
            </a:r>
            <a:r>
              <a:rPr lang="en-US" altLang="zh-CN" sz="1200">
                <a:solidFill>
                  <a:srgbClr val="FF0000"/>
                </a:solidFill>
              </a:rPr>
              <a:t>Host/Member Cluster、Push/Pull </a:t>
            </a:r>
            <a:r>
              <a:rPr lang="zh-CN" altLang="en-US" sz="1200">
                <a:solidFill>
                  <a:srgbClr val="FF0000"/>
                </a:solidFill>
              </a:rPr>
              <a:t>模式、组件关系与数据流。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https://github.com/karmada-io/karmada/blob/master/README.md ; https://karmada.io/docs/core-concepts/architecture/ ; https://github.com/karmada-io/community/blob/main/security-team/assessments/self-assessment.md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4155" y="4096385"/>
            <a:ext cx="11443335" cy="2762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/>
              <a:t>must </a:t>
            </a:r>
            <a:r>
              <a:rPr lang="zh-CN" altLang="en-US" sz="1200"/>
              <a:t>类别：项目不能只笼统地说“我们的软件是安全的”，而必须用书面文档明确告诉用户：这个软件在安全方面到底能提供哪些保护、不能提供哪些保护，边界在哪里。必须要有文档说明，软件确实能够做到的安全能力，</a:t>
            </a:r>
            <a:r>
              <a:rPr lang="zh-CN" altLang="en-US" sz="1200"/>
              <a:t>和软件不提供、做不到、或者不在本项目范围内的安全保护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Unmet:  </a:t>
            </a:r>
            <a:r>
              <a:rPr lang="en-US" altLang="zh-CN" sz="1200">
                <a:solidFill>
                  <a:srgbClr val="FF0000"/>
                </a:solidFill>
                <a:hlinkClick r:id="rId3" action="ppaction://hlinkfile"/>
              </a:rPr>
              <a:t>https://github.com/karmada-io/community/blob/main/security-team/assessments/self-assessment.md</a:t>
            </a:r>
            <a:r>
              <a:rPr lang="zh-CN" altLang="en-US" sz="1200">
                <a:solidFill>
                  <a:srgbClr val="FF0000"/>
                </a:solidFill>
              </a:rPr>
              <a:t>这个链接给出了</a:t>
            </a:r>
            <a:r>
              <a:rPr lang="en-US" altLang="zh-CN" sz="1200">
                <a:solidFill>
                  <a:srgbClr val="FF0000"/>
                </a:solidFill>
              </a:rPr>
              <a:t>Security links</a:t>
            </a:r>
            <a:r>
              <a:rPr lang="zh-CN" altLang="en-US" sz="1200">
                <a:solidFill>
                  <a:srgbClr val="FF0000"/>
                </a:solidFill>
              </a:rPr>
              <a:t>章节包含下面</a:t>
            </a:r>
            <a:r>
              <a:rPr lang="zh-CN" altLang="en-US" sz="1200">
                <a:solidFill>
                  <a:srgbClr val="FF0000"/>
                </a:solidFill>
              </a:rPr>
              <a:t>五个内容：</a:t>
            </a: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4" action="ppaction://hlinkfile"/>
              </a:rPr>
              <a:t>https://github.com/karmada-io/community/blob/main/security-team/SECURITY.md</a:t>
            </a:r>
            <a:r>
              <a:rPr lang="en-US" altLang="zh-CN" sz="1200">
                <a:solidFill>
                  <a:srgbClr val="FF0000"/>
                </a:solidFill>
              </a:rPr>
              <a:t> </a:t>
            </a:r>
            <a:r>
              <a:rPr lang="zh-CN" altLang="en-US" sz="1200">
                <a:solidFill>
                  <a:srgbClr val="FF0000"/>
                </a:solidFill>
              </a:rPr>
              <a:t>这个文档只说明如何报告漏洞，</a:t>
            </a:r>
            <a:r>
              <a:rPr lang="en-US" altLang="zh-CN" sz="1200">
                <a:solidFill>
                  <a:srgbClr val="FF0000"/>
                </a:solidFill>
              </a:rPr>
              <a:t>karmada</a:t>
            </a:r>
            <a:r>
              <a:rPr lang="zh-CN" altLang="en-US" sz="1200">
                <a:solidFill>
                  <a:srgbClr val="FF0000"/>
                </a:solidFill>
              </a:rPr>
              <a:t>安全发布流程；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5" action="ppaction://hlinkfile"/>
              </a:rPr>
              <a:t>https://karmada.io/docs/administrator/security/security-considerations/</a:t>
            </a:r>
            <a:r>
              <a:rPr lang="zh-CN" altLang="en-US" sz="1200">
                <a:solidFill>
                  <a:srgbClr val="FF0000"/>
                </a:solidFill>
              </a:rPr>
              <a:t> 指导用户如何增强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集群部署的安全性，减少潜在的攻击面和漏洞风险。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6" action="ppaction://hlinkfile"/>
              </a:rPr>
              <a:t>https://karmada.io/docs/administrator/configuration/configure-controllers/#optional-controllers</a:t>
            </a:r>
            <a:r>
              <a:rPr lang="en-US" altLang="zh-CN" sz="1200">
                <a:solidFill>
                  <a:srgbClr val="FF0000"/>
                </a:solidFill>
              </a:rPr>
              <a:t> </a:t>
            </a:r>
            <a:r>
              <a:rPr lang="zh-CN" altLang="en-US" sz="1200">
                <a:solidFill>
                  <a:srgbClr val="FF0000"/>
                </a:solidFill>
              </a:rPr>
              <a:t>说明了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系统中包含哪些控制器、它们分别运行在哪个组件中、如何启用或禁用，以及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还依赖哪些 </a:t>
            </a:r>
            <a:r>
              <a:rPr lang="en-US" altLang="zh-CN" sz="1200">
                <a:solidFill>
                  <a:srgbClr val="FF0000"/>
                </a:solidFill>
              </a:rPr>
              <a:t>Kubernetes </a:t>
            </a:r>
            <a:r>
              <a:rPr lang="zh-CN" altLang="en-US" sz="1200">
                <a:solidFill>
                  <a:srgbClr val="FF0000"/>
                </a:solidFill>
              </a:rPr>
              <a:t>自带的控制器。目的是让用户（尤其是集群管理员）理解控制器的构成，并能根据实际需求正确配置它们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7" action="ppaction://hlinkfile"/>
              </a:rPr>
              <a:t>https://karmada.io/docs/administrator/security/verify-artifacts/</a:t>
            </a:r>
            <a:r>
              <a:rPr lang="en-US" altLang="zh-CN" sz="1200">
                <a:solidFill>
                  <a:srgbClr val="FF0000"/>
                </a:solidFill>
              </a:rPr>
              <a:t> Karmada </a:t>
            </a:r>
            <a:r>
              <a:rPr lang="zh-CN" altLang="en-US" sz="1200">
                <a:solidFill>
                  <a:srgbClr val="FF0000"/>
                </a:solidFill>
              </a:rPr>
              <a:t>官方发布的镜像、二进制、</a:t>
            </a:r>
            <a:r>
              <a:rPr lang="en-US" altLang="zh-CN" sz="1200">
                <a:solidFill>
                  <a:srgbClr val="FF0000"/>
                </a:solidFill>
              </a:rPr>
              <a:t>SBOM、CRD </a:t>
            </a:r>
            <a:r>
              <a:rPr lang="zh-CN" altLang="en-US" sz="1200">
                <a:solidFill>
                  <a:srgbClr val="FF0000"/>
                </a:solidFill>
              </a:rPr>
              <a:t>和 </a:t>
            </a:r>
            <a:r>
              <a:rPr lang="en-US" altLang="zh-CN" sz="1200">
                <a:solidFill>
                  <a:srgbClr val="FF0000"/>
                </a:solidFill>
              </a:rPr>
              <a:t>Chart </a:t>
            </a:r>
            <a:r>
              <a:rPr lang="zh-CN" altLang="en-US" sz="1200">
                <a:solidFill>
                  <a:srgbClr val="FF0000"/>
                </a:solidFill>
              </a:rPr>
              <a:t>都经过数字签名，用户可以验证它们的来源和完整性，确保没有被第三方篡改。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 </a:t>
            </a:r>
            <a:r>
              <a:rPr lang="en-US" altLang="zh-CN" sz="1200">
                <a:solidFill>
                  <a:srgbClr val="FF0000"/>
                </a:solidFill>
                <a:hlinkClick r:id="rId8" action="ppaction://hlinkfile"/>
              </a:rPr>
              <a:t>https://karmada.io/docs/administrator/security/component-permission/</a:t>
            </a:r>
            <a:r>
              <a:rPr lang="en-US" altLang="zh-CN" sz="1200">
                <a:solidFill>
                  <a:srgbClr val="FF0000"/>
                </a:solidFill>
              </a:rPr>
              <a:t> Karmada </a:t>
            </a:r>
            <a:r>
              <a:rPr lang="zh-CN" altLang="en-US" sz="1200">
                <a:solidFill>
                  <a:srgbClr val="FF0000"/>
                </a:solidFill>
              </a:rPr>
              <a:t>组件权限说明，它详细列出了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各个组件（目前主要是 </a:t>
            </a:r>
            <a:r>
              <a:rPr lang="en-US" altLang="zh-CN" sz="1200">
                <a:solidFill>
                  <a:srgbClr val="FF0000"/>
                </a:solidFill>
              </a:rPr>
              <a:t>karmada-operator </a:t>
            </a:r>
            <a:r>
              <a:rPr lang="zh-CN" altLang="en-US" sz="1200">
                <a:solidFill>
                  <a:srgbClr val="FF0000"/>
                </a:solidFill>
              </a:rPr>
              <a:t>和 </a:t>
            </a:r>
            <a:r>
              <a:rPr lang="en-US" altLang="zh-CN" sz="1200">
                <a:solidFill>
                  <a:srgbClr val="FF0000"/>
                </a:solidFill>
              </a:rPr>
              <a:t>karmada-agent）</a:t>
            </a:r>
            <a:r>
              <a:rPr lang="zh-CN" altLang="en-US" sz="1200">
                <a:solidFill>
                  <a:srgbClr val="FF0000"/>
                </a:solidFill>
              </a:rPr>
              <a:t>在运行过程中需要访问的 </a:t>
            </a:r>
            <a:r>
              <a:rPr lang="en-US" altLang="zh-CN" sz="1200">
                <a:solidFill>
                  <a:srgbClr val="FF0000"/>
                </a:solidFill>
              </a:rPr>
              <a:t>Kubernetes </a:t>
            </a:r>
            <a:r>
              <a:rPr lang="zh-CN" altLang="en-US" sz="1200">
                <a:solidFill>
                  <a:srgbClr val="FF0000"/>
                </a:solidFill>
              </a:rPr>
              <a:t>资源及其对应的操作权限（</a:t>
            </a:r>
            <a:r>
              <a:rPr lang="en-US" altLang="zh-CN" sz="1200">
                <a:solidFill>
                  <a:srgbClr val="FF0000"/>
                </a:solidFill>
              </a:rPr>
              <a:t>verbs），</a:t>
            </a:r>
            <a:r>
              <a:rPr lang="zh-CN" altLang="en-US" sz="1200">
                <a:solidFill>
                  <a:srgbClr val="FF0000"/>
                </a:solidFill>
              </a:rPr>
              <a:t>并解释了为什么需要这些权限。其核心目的是帮助管理员理解和正确配置 </a:t>
            </a:r>
            <a:r>
              <a:rPr lang="en-US" altLang="zh-CN" sz="1200">
                <a:solidFill>
                  <a:srgbClr val="FF0000"/>
                </a:solidFill>
              </a:rPr>
              <a:t>RBAC（</a:t>
            </a:r>
            <a:r>
              <a:rPr lang="zh-CN" altLang="en-US" sz="1200">
                <a:solidFill>
                  <a:srgbClr val="FF0000"/>
                </a:solidFill>
              </a:rPr>
              <a:t>基于角色的访问控制）权限，确保组件仅拥有完成其功能所必需的最小权限，遵循“最小权限原则”，从而降低安全风险。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improvement: </a:t>
            </a:r>
            <a:r>
              <a:rPr lang="zh-CN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补充一份集中式的安全需求文档，将分散的信息整合并明确安全目标和边界。</a:t>
            </a:r>
            <a:endParaRPr lang="zh-CN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364045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文档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045"/>
            <a:ext cx="6877685" cy="31172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877685" y="1597660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类别：要求项目有一个对新手的</a:t>
            </a:r>
            <a:r>
              <a:rPr lang="en-US" altLang="zh-CN" sz="1200"/>
              <a:t>quick start</a:t>
            </a:r>
            <a:r>
              <a:rPr lang="zh-CN" altLang="en-US" sz="1200"/>
              <a:t>指引。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README </a:t>
            </a:r>
            <a:r>
              <a:rPr lang="zh-CN" altLang="en-US" sz="1200">
                <a:solidFill>
                  <a:srgbClr val="FF0000"/>
                </a:solidFill>
              </a:rPr>
              <a:t>提供 </a:t>
            </a:r>
            <a:r>
              <a:rPr lang="en-US" altLang="zh-CN" sz="1200">
                <a:solidFill>
                  <a:srgbClr val="FF0000"/>
                </a:solidFill>
              </a:rPr>
              <a:t>Quick Start（hack/local-up-karmada.sh </a:t>
            </a:r>
            <a:r>
              <a:rPr lang="zh-CN" altLang="en-US" sz="1200">
                <a:solidFill>
                  <a:srgbClr val="FF0000"/>
                </a:solidFill>
              </a:rPr>
              <a:t>一键部署 + 示例应用传播），官网 </a:t>
            </a:r>
            <a:r>
              <a:rPr lang="en-US" altLang="zh-CN" sz="1200">
                <a:solidFill>
                  <a:srgbClr val="FF0000"/>
                </a:solidFill>
              </a:rPr>
              <a:t>installation </a:t>
            </a:r>
            <a:r>
              <a:rPr lang="zh-CN" altLang="en-US" sz="1200">
                <a:solidFill>
                  <a:srgbClr val="FF0000"/>
                </a:solidFill>
              </a:rPr>
              <a:t>文档提供 </a:t>
            </a:r>
            <a:r>
              <a:rPr lang="en-US" altLang="zh-CN" sz="1200">
                <a:solidFill>
                  <a:srgbClr val="FF0000"/>
                </a:solidFill>
              </a:rPr>
              <a:t>karmadactl/Helm/Operator </a:t>
            </a:r>
            <a:r>
              <a:rPr lang="zh-CN" altLang="en-US" sz="1200">
                <a:solidFill>
                  <a:srgbClr val="FF0000"/>
                </a:solidFill>
              </a:rPr>
              <a:t>安装步骤。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https://github.com/karmada-io/karmada/blob/master/README.md ; https://karmada.io/docs/installation/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77685" y="2874010"/>
            <a:ext cx="5331460" cy="1444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类别：要求项目有一个对新手的</a:t>
            </a:r>
            <a:r>
              <a:rPr lang="en-US" altLang="zh-CN" sz="1200"/>
              <a:t>quick start</a:t>
            </a:r>
            <a:r>
              <a:rPr lang="zh-CN" altLang="en-US" sz="1200"/>
              <a:t>指引。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README </a:t>
            </a:r>
            <a:r>
              <a:rPr lang="zh-CN" altLang="en-US" sz="1200">
                <a:solidFill>
                  <a:srgbClr val="FF0000"/>
                </a:solidFill>
              </a:rPr>
              <a:t>提供 </a:t>
            </a:r>
            <a:r>
              <a:rPr lang="en-US" altLang="zh-CN" sz="1200">
                <a:solidFill>
                  <a:srgbClr val="FF0000"/>
                </a:solidFill>
              </a:rPr>
              <a:t>Quick Start（hack/local-up-karmada.sh </a:t>
            </a:r>
            <a:r>
              <a:rPr lang="zh-CN" altLang="en-US" sz="1200">
                <a:solidFill>
                  <a:srgbClr val="FF0000"/>
                </a:solidFill>
              </a:rPr>
              <a:t>一键部署 + 示例应用传播），官网 </a:t>
            </a:r>
            <a:r>
              <a:rPr lang="en-US" altLang="zh-CN" sz="1200">
                <a:solidFill>
                  <a:srgbClr val="FF0000"/>
                </a:solidFill>
              </a:rPr>
              <a:t>installation </a:t>
            </a:r>
            <a:r>
              <a:rPr lang="zh-CN" altLang="en-US" sz="1200">
                <a:solidFill>
                  <a:srgbClr val="FF0000"/>
                </a:solidFill>
              </a:rPr>
              <a:t>文档提供 </a:t>
            </a:r>
            <a:r>
              <a:rPr lang="en-US" altLang="zh-CN" sz="1200">
                <a:solidFill>
                  <a:srgbClr val="FF0000"/>
                </a:solidFill>
              </a:rPr>
              <a:t>karmadactl/Helm/Operator </a:t>
            </a:r>
            <a:r>
              <a:rPr lang="zh-CN" altLang="en-US" sz="1200">
                <a:solidFill>
                  <a:srgbClr val="FF0000"/>
                </a:solidFill>
              </a:rPr>
              <a:t>安装步骤。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https://github.com/karmada-io/karmada/blob/master/README.md ; https://karmada.io/docs/installation/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48385" y="4792980"/>
            <a:ext cx="10516870" cy="93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类别：要求项目在获取任何成就之后，需要在</a:t>
            </a:r>
            <a:r>
              <a:rPr lang="en-US" altLang="zh-CN" sz="1200"/>
              <a:t>48</a:t>
            </a:r>
            <a:r>
              <a:rPr lang="zh-CN" altLang="en-US" sz="1200"/>
              <a:t>小时之内把成就标识出来。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：主仓库 </a:t>
            </a:r>
            <a:r>
              <a:rPr lang="en-US" altLang="zh-CN" sz="1200">
                <a:solidFill>
                  <a:srgbClr val="FF0000"/>
                </a:solidFill>
              </a:rPr>
              <a:t>README </a:t>
            </a:r>
            <a:r>
              <a:rPr lang="zh-CN" altLang="en-US" sz="1200">
                <a:solidFill>
                  <a:srgbClr val="FF0000"/>
                </a:solidFill>
              </a:rPr>
              <a:t>顶部已展示并超链接 </a:t>
            </a:r>
            <a:r>
              <a:rPr lang="en-US" altLang="zh-CN" sz="1200">
                <a:solidFill>
                  <a:srgbClr val="FF0000"/>
                </a:solidFill>
              </a:rPr>
              <a:t>OpenSSF Best Practices </a:t>
            </a:r>
            <a:r>
              <a:rPr lang="zh-CN" altLang="en-US" sz="1200">
                <a:solidFill>
                  <a:srgbClr val="FF0000"/>
                </a:solidFill>
              </a:rPr>
              <a:t>徽章（项目 #5301），另有 </a:t>
            </a:r>
            <a:r>
              <a:rPr lang="en-US" altLang="zh-CN" sz="1200">
                <a:solidFill>
                  <a:srgbClr val="FF0000"/>
                </a:solidFill>
              </a:rPr>
              <a:t>OpenSSF Scorecard、Codecov、FOSSA </a:t>
            </a:r>
            <a:r>
              <a:rPr lang="zh-CN" altLang="en-US" sz="1200">
                <a:solidFill>
                  <a:srgbClr val="FF0000"/>
                </a:solidFill>
              </a:rPr>
              <a:t>等徽章，满足“识别并超链接成就”的要求。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https://github.com/karmada-io/karmada/blob/master/README.md ;   https://www.bestpractices.dev/en/projects/5301</a:t>
            </a:r>
            <a:endParaRPr lang="en-US" altLang="zh-CN" sz="1200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无障碍和国际化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77685" y="1597660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 </a:t>
            </a:r>
            <a:r>
              <a:rPr lang="zh-CN" altLang="en-US" sz="1200"/>
              <a:t>类别：要求项目支持残障人士</a:t>
            </a:r>
            <a:r>
              <a:rPr lang="zh-CN" altLang="en-US" sz="1200"/>
              <a:t>使用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0000"/>
                </a:solidFill>
                <a:sym typeface="+mn-ea"/>
              </a:rPr>
              <a:t>？应该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没有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77685" y="2559050"/>
            <a:ext cx="5331460" cy="184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类别：要求项目是国际化的，允许用户根据自己的文化进行本地化。</a:t>
            </a:r>
            <a:r>
              <a:rPr lang="en-US" altLang="zh-CN" sz="1200"/>
              <a:t>“</a:t>
            </a:r>
            <a:r>
              <a:rPr lang="zh-CN" altLang="en-US" sz="1200"/>
              <a:t>本地化</a:t>
            </a:r>
            <a:r>
              <a:rPr lang="en-US" altLang="zh-CN" sz="1200"/>
              <a:t>”</a:t>
            </a:r>
            <a:r>
              <a:rPr lang="zh-CN" altLang="en-US" sz="1200"/>
              <a:t>解释见图。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：网已做 </a:t>
            </a:r>
            <a:r>
              <a:rPr lang="en-US" altLang="zh-CN" sz="1200">
                <a:solidFill>
                  <a:srgbClr val="FF0000"/>
                </a:solidFill>
              </a:rPr>
              <a:t>i18n（</a:t>
            </a:r>
            <a:r>
              <a:rPr lang="zh-CN" altLang="en-US" sz="1200">
                <a:solidFill>
                  <a:srgbClr val="FF0000"/>
                </a:solidFill>
              </a:rPr>
              <a:t>提供中文文档等本地化内容），但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核心软件与 </a:t>
            </a:r>
            <a:r>
              <a:rPr lang="en-US" altLang="zh-CN" sz="1200">
                <a:solidFill>
                  <a:srgbClr val="FF0000"/>
                </a:solidFill>
              </a:rPr>
              <a:t>karmadactl </a:t>
            </a:r>
            <a:r>
              <a:rPr lang="zh-CN" altLang="en-US" sz="1200">
                <a:solidFill>
                  <a:srgbClr val="FF0000"/>
                </a:solidFill>
              </a:rPr>
              <a:t>面向用户的输出没有公开的 </a:t>
            </a:r>
            <a:r>
              <a:rPr lang="en-US" altLang="zh-CN" sz="1200">
                <a:solidFill>
                  <a:srgbClr val="FF0000"/>
                </a:solidFill>
              </a:rPr>
              <a:t>i18n/localization </a:t>
            </a:r>
            <a:r>
              <a:rPr lang="zh-CN" altLang="en-US" sz="1200">
                <a:solidFill>
                  <a:srgbClr val="FF0000"/>
                </a:solidFill>
              </a:rPr>
              <a:t>框架或资源目录，不能认定“软件 </a:t>
            </a:r>
            <a:r>
              <a:rPr lang="en-US" altLang="zh-CN" sz="1200">
                <a:solidFill>
                  <a:srgbClr val="FF0000"/>
                </a:solidFill>
              </a:rPr>
              <a:t>produced by the project </a:t>
            </a:r>
            <a:r>
              <a:rPr lang="zh-CN" altLang="en-US" sz="1200">
                <a:solidFill>
                  <a:srgbClr val="FF0000"/>
                </a:solidFill>
              </a:rPr>
              <a:t>已国际化”。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 ; https://karmada.io/zh/docs/ [improvement]: </a:t>
            </a:r>
            <a:r>
              <a:rPr lang="zh-CN" altLang="en-US" sz="1200">
                <a:solidFill>
                  <a:srgbClr val="FF0000"/>
                </a:solidFill>
              </a:rPr>
              <a:t>为 </a:t>
            </a:r>
            <a:r>
              <a:rPr lang="en-US" altLang="zh-CN" sz="1200">
                <a:solidFill>
                  <a:srgbClr val="FF0000"/>
                </a:solidFill>
              </a:rPr>
              <a:t>karmadactl </a:t>
            </a:r>
            <a:r>
              <a:rPr lang="zh-CN" altLang="en-US" sz="1200">
                <a:solidFill>
                  <a:srgbClr val="FF0000"/>
                </a:solidFill>
              </a:rPr>
              <a:t>与核心面向用户输出建立系统化 </a:t>
            </a:r>
            <a:r>
              <a:rPr lang="en-US" altLang="zh-CN" sz="1200">
                <a:solidFill>
                  <a:srgbClr val="FF0000"/>
                </a:solidFill>
              </a:rPr>
              <a:t>i18n/</a:t>
            </a:r>
            <a:r>
              <a:rPr lang="zh-CN" altLang="en-US" sz="1200">
                <a:solidFill>
                  <a:srgbClr val="FF0000"/>
                </a:solidFill>
              </a:rPr>
              <a:t>本地化框架和资源目录，覆盖全部用户可见字符串并提供本地化入口。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930910"/>
            <a:ext cx="6582410" cy="35242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其他和变更</a:t>
            </a:r>
            <a:r>
              <a:rPr lang="zh-CN" altLang="en-US"/>
              <a:t>控制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61505" y="1597660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类别：如果项目站点需要密码登录，没有</a:t>
            </a:r>
            <a:r>
              <a:rPr lang="zh-CN" altLang="en-US" sz="1200"/>
              <a:t>这个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N/A:Karmada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项目网站为静态文档站（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Docusaurus），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无外部用户密码认证；代码托管、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issue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与贡献身份认证由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GitHub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提供，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OpenSSF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注明“使用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GitHub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即满足本条”，因此触发条件不适用。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https://karmada.io/ ; https://github.com/karmada-io/karmada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61505" y="2936875"/>
            <a:ext cx="5331460" cy="184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类别：要求项目</a:t>
            </a:r>
            <a:r>
              <a:rPr lang="zh-CN" altLang="en-US" sz="1200"/>
              <a:t>维护多个版本，并且记录升级路径。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 SECURITY.md </a:t>
            </a:r>
            <a:r>
              <a:rPr lang="zh-CN" altLang="en-US" sz="1200">
                <a:solidFill>
                  <a:srgbClr val="FF0000"/>
                </a:solidFill>
              </a:rPr>
              <a:t>声明维护最近三个 </a:t>
            </a:r>
            <a:r>
              <a:rPr lang="en-US" altLang="zh-CN" sz="1200">
                <a:solidFill>
                  <a:srgbClr val="FF0000"/>
                </a:solidFill>
              </a:rPr>
              <a:t>minor release </a:t>
            </a:r>
            <a:r>
              <a:rPr lang="zh-CN" altLang="en-US" sz="1200">
                <a:solidFill>
                  <a:srgbClr val="FF0000"/>
                </a:solidFill>
              </a:rPr>
              <a:t>分支并回移适用修复；官网提供 </a:t>
            </a:r>
            <a:r>
              <a:rPr lang="en-US" altLang="zh-CN" sz="1200">
                <a:solidFill>
                  <a:srgbClr val="FF0000"/>
                </a:solidFill>
              </a:rPr>
              <a:t>Helm/Operator </a:t>
            </a:r>
            <a:r>
              <a:rPr lang="zh-CN" altLang="en-US" sz="1200">
                <a:solidFill>
                  <a:srgbClr val="FF0000"/>
                </a:solidFill>
              </a:rPr>
              <a:t>升级路径与详细升级文档（含 </a:t>
            </a:r>
            <a:r>
              <a:rPr lang="en-US" altLang="zh-CN" sz="1200">
                <a:solidFill>
                  <a:srgbClr val="FF0000"/>
                </a:solidFill>
              </a:rPr>
              <a:t>API </a:t>
            </a:r>
            <a:r>
              <a:rPr lang="zh-CN" altLang="en-US" sz="1200">
                <a:solidFill>
                  <a:srgbClr val="FF0000"/>
                </a:solidFill>
              </a:rPr>
              <a:t>与组件升级步骤）。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https://github.com/karmada-io/community/blob/main/security-team/SECURITY.md ; https://karmada.io/docs/administrator/upgrading/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1467485"/>
            <a:ext cx="6782435" cy="30683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报告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60540" y="3214370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类别：对漏洞报告的报告者表示公开感谢，最近一年没有则填</a:t>
            </a:r>
            <a:r>
              <a:rPr lang="en-US" altLang="zh-CN" sz="1200"/>
              <a:t>N/A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N/A: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截至 2026-08-19，公开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Security Advisories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中最近一次已解决漏洞发布于 2025-01-03（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CVE-2024-56513/56514），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近 12 个月内无已解决漏洞，符合“无漏洞则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N/A”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的条件；最终提交前请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Security Team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确认私有记录。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https://github.com/karmada-io/karmada/security/advisories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60540" y="4826000"/>
            <a:ext cx="5331460" cy="184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类别：要求项目有一个书面的流程相应报告</a:t>
            </a:r>
            <a:r>
              <a:rPr lang="zh-CN" altLang="en-US" sz="1200"/>
              <a:t>漏洞。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 SECURITY.md </a:t>
            </a:r>
            <a:r>
              <a:rPr lang="zh-CN" altLang="en-US" sz="1200">
                <a:solidFill>
                  <a:srgbClr val="FF0000"/>
                </a:solidFill>
              </a:rPr>
              <a:t>与 </a:t>
            </a:r>
            <a:r>
              <a:rPr lang="en-US" altLang="zh-CN" sz="1200">
                <a:solidFill>
                  <a:srgbClr val="FF0000"/>
                </a:solidFill>
              </a:rPr>
              <a:t>security-release-process.md </a:t>
            </a:r>
            <a:r>
              <a:rPr lang="zh-CN" altLang="en-US" sz="1200">
                <a:solidFill>
                  <a:srgbClr val="FF0000"/>
                </a:solidFill>
              </a:rPr>
              <a:t>公开了私密报告渠道（</a:t>
            </a:r>
            <a:r>
              <a:rPr lang="en-US" altLang="zh-CN" sz="1200">
                <a:solidFill>
                  <a:srgbClr val="FF0000"/>
                </a:solidFill>
              </a:rPr>
              <a:t>cncf-karmada-security@lists.cncf.io）、2 </a:t>
            </a:r>
            <a:r>
              <a:rPr lang="zh-CN" altLang="en-US" sz="1200">
                <a:solidFill>
                  <a:srgbClr val="FF0000"/>
                </a:solidFill>
              </a:rPr>
              <a:t>个工作日响应承诺、漏洞分级、</a:t>
            </a:r>
            <a:r>
              <a:rPr lang="en-US" altLang="zh-CN" sz="1200">
                <a:solidFill>
                  <a:srgbClr val="FF0000"/>
                </a:solidFill>
              </a:rPr>
              <a:t>embargo/CVE </a:t>
            </a:r>
            <a:r>
              <a:rPr lang="zh-CN" altLang="en-US" sz="1200">
                <a:solidFill>
                  <a:srgbClr val="FF0000"/>
                </a:solidFill>
              </a:rPr>
              <a:t>流程、私有分发商列表与公开披露流程。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https://github.com/karmada-io/community/blob/main/security-team/SECURITY.md ; https://github.com/karmada-io/community/blob/main/security-team/security-release-process.md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45" y="1640840"/>
            <a:ext cx="6304280" cy="35769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860540" y="1602740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类别：项目必须指定主要语言和代码</a:t>
            </a:r>
            <a:r>
              <a:rPr lang="zh-CN" altLang="en-US" sz="1200"/>
              <a:t>风格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Met:CONTRIBUTING.md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要求遵循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 CodeReviewComments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编码规范并撰写规范的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commit message。https://github.com/karmada-io/karmada/blob/master/CONTRIBUTING.md ; https://go.dev/wiki/CodeReviewComments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60540" y="2879090"/>
            <a:ext cx="5331460" cy="1846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类别：要求项目</a:t>
            </a:r>
            <a:r>
              <a:rPr lang="zh-CN" altLang="en-US" sz="1200"/>
              <a:t>能够自动执行其选定的编码风格。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 CI golangci job </a:t>
            </a:r>
            <a:r>
              <a:rPr lang="zh-CN" altLang="en-US" sz="1200">
                <a:solidFill>
                  <a:srgbClr val="FF0000"/>
                </a:solidFill>
              </a:rPr>
              <a:t>运行 </a:t>
            </a:r>
            <a:r>
              <a:rPr lang="en-US" altLang="zh-CN" sz="1200">
                <a:solidFill>
                  <a:srgbClr val="FF0000"/>
                </a:solidFill>
              </a:rPr>
              <a:t>hack/verify-staticcheck.sh（golangci-lint），</a:t>
            </a:r>
            <a:r>
              <a:rPr lang="zh-CN" altLang="en-US" sz="1200">
                <a:solidFill>
                  <a:srgbClr val="FF0000"/>
                </a:solidFill>
              </a:rPr>
              <a:t>启用 </a:t>
            </a:r>
            <a:r>
              <a:rPr lang="en-US" altLang="zh-CN" sz="1200">
                <a:solidFill>
                  <a:srgbClr val="FF0000"/>
                </a:solidFill>
              </a:rPr>
              <a:t>gofmt/goimports/gci </a:t>
            </a:r>
            <a:r>
              <a:rPr lang="zh-CN" altLang="en-US" sz="1200">
                <a:solidFill>
                  <a:srgbClr val="FF0000"/>
                </a:solidFill>
              </a:rPr>
              <a:t>格式化与多类 </a:t>
            </a:r>
            <a:r>
              <a:rPr lang="en-US" altLang="zh-CN" sz="1200">
                <a:solidFill>
                  <a:srgbClr val="FF0000"/>
                </a:solidFill>
              </a:rPr>
              <a:t>lint，</a:t>
            </a:r>
            <a:r>
              <a:rPr lang="zh-CN" altLang="en-US" sz="1200">
                <a:solidFill>
                  <a:srgbClr val="FF0000"/>
                </a:solidFill>
              </a:rPr>
              <a:t>在 </a:t>
            </a:r>
            <a:r>
              <a:rPr lang="en-US" altLang="zh-CN" sz="1200">
                <a:solidFill>
                  <a:srgbClr val="FF0000"/>
                </a:solidFill>
              </a:rPr>
              <a:t>push/PR </a:t>
            </a:r>
            <a:r>
              <a:rPr lang="zh-CN" altLang="en-US" sz="1200">
                <a:solidFill>
                  <a:srgbClr val="FF0000"/>
                </a:solidFill>
              </a:rPr>
              <a:t>强制通过。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https://github.com/karmada-io/karmada/blob/master/.golangci.yml ; https://github.com/karmada-io/karmada/blob/master/.github/workflows/ci.yml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" y="1697355"/>
            <a:ext cx="6668770" cy="23355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287020"/>
            <a:ext cx="5331460" cy="1713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类别：项目必须遵守用户传递的变量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Met:Makefile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使用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GOOS/GOARCH/VERSION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等标准变量，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hack/build.sh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将用户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LDFLAGS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附加到版本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ldflags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后传给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 build，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而非覆盖用户值。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https://github.com/karmada-io/karmada/blob/master/Makefile ; </a:t>
            </a:r>
            <a:r>
              <a:rPr lang="en-US" altLang="zh-CN" sz="1200">
                <a:solidFill>
                  <a:srgbClr val="FF0000"/>
                </a:solidFill>
                <a:sym typeface="+mn-ea"/>
                <a:hlinkClick r:id="rId2" action="ppaction://hlinkfile"/>
              </a:rPr>
              <a:t>https://github.com/karmada-io/karmada/blob/master/hack/build.sh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export LDFLAGS="-s -w"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用户通过这个命令传入命令参数，再通过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LDFLAGS="$(util::version_ldflags) ${LDFLAGS:-}"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合并版本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ldflags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与用户提供的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LDFLAGS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2047875"/>
            <a:ext cx="5331460" cy="1756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类别：项目编译出来的如果是可执行程序，不能把调试信息隐藏。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构建脚本未使用 -</a:t>
            </a:r>
            <a:r>
              <a:rPr lang="en-US" altLang="zh-CN" sz="1200">
                <a:solidFill>
                  <a:srgbClr val="FF0000"/>
                </a:solidFill>
              </a:rPr>
              <a:t>s/-w </a:t>
            </a:r>
            <a:r>
              <a:rPr lang="zh-CN" altLang="en-US" sz="1200">
                <a:solidFill>
                  <a:srgbClr val="FF0000"/>
                </a:solidFill>
              </a:rPr>
              <a:t>剥离符号，仅注入 -</a:t>
            </a:r>
            <a:r>
              <a:rPr lang="en-US" altLang="zh-CN" sz="1200">
                <a:solidFill>
                  <a:srgbClr val="FF0000"/>
                </a:solidFill>
              </a:rPr>
              <a:t>X </a:t>
            </a:r>
            <a:r>
              <a:rPr lang="zh-CN" altLang="en-US" sz="1200">
                <a:solidFill>
                  <a:srgbClr val="FF0000"/>
                </a:solidFill>
              </a:rPr>
              <a:t>版本变量，默认保留调试信息。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https://github.com/karmada-io/karmada/blob/master/hack/build.sh </a:t>
            </a: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3" action="ppaction://hlinkfile"/>
              </a:rPr>
              <a:t>https://github.com/karmada-io/karmada/blob/master/hack/util.sh</a:t>
            </a:r>
            <a:endParaRPr lang="en-US" altLang="zh-CN" sz="1200">
              <a:solidFill>
                <a:srgbClr val="FF0000"/>
              </a:solidFill>
              <a:hlinkClick r:id="rId3" action="ppaction://hlinkfil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hlinkClick r:id="rId3" action="ppaction://hlinkfile"/>
              </a:rPr>
              <a:t>build</a:t>
            </a:r>
            <a:r>
              <a:rPr lang="en-US" altLang="zh-CN" sz="1200">
                <a:solidFill>
                  <a:srgbClr val="FF0000"/>
                </a:solidFill>
              </a:rPr>
              <a:t>.sh </a:t>
            </a:r>
            <a:r>
              <a:rPr lang="zh-CN" altLang="en-US" sz="1200">
                <a:solidFill>
                  <a:srgbClr val="FF0000"/>
                </a:solidFill>
              </a:rPr>
              <a:t>通过 -</a:t>
            </a:r>
            <a:r>
              <a:rPr lang="en-US" altLang="zh-CN" sz="1200">
                <a:solidFill>
                  <a:srgbClr val="FF0000"/>
                </a:solidFill>
              </a:rPr>
              <a:t>ldflags "${LDFLAGS:-}" </a:t>
            </a:r>
            <a:r>
              <a:rPr lang="zh-CN" altLang="en-US" sz="1200">
                <a:solidFill>
                  <a:srgbClr val="FF0000"/>
                </a:solidFill>
              </a:rPr>
              <a:t>传递链接器标志，脚本中 没有 使用 -</a:t>
            </a:r>
            <a:r>
              <a:rPr lang="en-US" altLang="zh-CN" sz="1200">
                <a:solidFill>
                  <a:srgbClr val="FF0000"/>
                </a:solidFill>
              </a:rPr>
              <a:t>s </a:t>
            </a:r>
            <a:r>
              <a:rPr lang="zh-CN" altLang="en-US" sz="1200">
                <a:solidFill>
                  <a:srgbClr val="FF0000"/>
                </a:solidFill>
              </a:rPr>
              <a:t>或 -</a:t>
            </a:r>
            <a:r>
              <a:rPr lang="en-US" altLang="zh-CN" sz="1200">
                <a:solidFill>
                  <a:srgbClr val="FF0000"/>
                </a:solidFill>
              </a:rPr>
              <a:t>w </a:t>
            </a:r>
            <a:r>
              <a:rPr lang="zh-CN" altLang="en-US" sz="1200">
                <a:solidFill>
                  <a:srgbClr val="FF0000"/>
                </a:solidFill>
              </a:rPr>
              <a:t>这两个会剥离调试信息和符号表的标志。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编译器默认会保留完整的 </a:t>
            </a:r>
            <a:r>
              <a:rPr lang="en-US" altLang="zh-CN" sz="1200">
                <a:solidFill>
                  <a:srgbClr val="FF0000"/>
                </a:solidFill>
              </a:rPr>
              <a:t>DWARF </a:t>
            </a:r>
            <a:r>
              <a:rPr lang="zh-CN" altLang="en-US" sz="1200">
                <a:solidFill>
                  <a:srgbClr val="FF0000"/>
                </a:solidFill>
              </a:rPr>
              <a:t>调试信息和符号表，没有隐藏调试信息。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60540" y="3851910"/>
            <a:ext cx="5331460" cy="1866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类别：项目里有多个子目录，并且这些子目录之间不是完全独立的（比如 </a:t>
            </a:r>
            <a:r>
              <a:rPr lang="en-US" altLang="zh-CN" sz="1200"/>
              <a:t>A </a:t>
            </a:r>
            <a:r>
              <a:rPr lang="zh-CN" altLang="en-US" sz="1200"/>
              <a:t>目录的代码会用到 </a:t>
            </a:r>
            <a:r>
              <a:rPr lang="en-US" altLang="zh-CN" sz="1200"/>
              <a:t>B </a:t>
            </a:r>
            <a:r>
              <a:rPr lang="zh-CN" altLang="en-US" sz="1200"/>
              <a:t>目录的函数），那么你的构建系统不能采用“进入每个子目录分别执行构建”的方式。禁用递归构建。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根 </a:t>
            </a:r>
            <a:r>
              <a:rPr lang="en-US" altLang="zh-CN" sz="1200">
                <a:solidFill>
                  <a:srgbClr val="FF0000"/>
                </a:solidFill>
              </a:rPr>
              <a:t>Makefile </a:t>
            </a:r>
            <a:r>
              <a:rPr lang="zh-CN" altLang="en-US" sz="1200">
                <a:solidFill>
                  <a:srgbClr val="FF0000"/>
                </a:solidFill>
              </a:rPr>
              <a:t>通过 </a:t>
            </a:r>
            <a:r>
              <a:rPr lang="en-US" altLang="zh-CN" sz="1200">
                <a:solidFill>
                  <a:srgbClr val="FF0000"/>
                </a:solidFill>
              </a:rPr>
              <a:t>go build </a:t>
            </a:r>
            <a:r>
              <a:rPr lang="zh-CN" altLang="en-US" sz="1200">
                <a:solidFill>
                  <a:srgbClr val="FF0000"/>
                </a:solidFill>
              </a:rPr>
              <a:t>按 </a:t>
            </a:r>
            <a:r>
              <a:rPr lang="en-US" altLang="zh-CN" sz="1200">
                <a:solidFill>
                  <a:srgbClr val="FF0000"/>
                </a:solidFill>
              </a:rPr>
              <a:t>target </a:t>
            </a:r>
            <a:r>
              <a:rPr lang="zh-CN" altLang="en-US" sz="1200">
                <a:solidFill>
                  <a:srgbClr val="FF0000"/>
                </a:solidFill>
              </a:rPr>
              <a:t>构建，无递归子目录 </a:t>
            </a:r>
            <a:r>
              <a:rPr lang="en-US" altLang="zh-CN" sz="1200">
                <a:solidFill>
                  <a:srgbClr val="FF0000"/>
                </a:solidFill>
              </a:rPr>
              <a:t>make </a:t>
            </a:r>
            <a:r>
              <a:rPr lang="zh-CN" altLang="en-US" sz="1200">
                <a:solidFill>
                  <a:srgbClr val="FF0000"/>
                </a:solidFill>
              </a:rPr>
              <a:t>交叉依赖问题；</a:t>
            </a:r>
            <a:r>
              <a:rPr lang="en-US" altLang="zh-CN" sz="1200">
                <a:solidFill>
                  <a:srgbClr val="FF0000"/>
                </a:solidFill>
              </a:rPr>
              <a:t>Go module </a:t>
            </a:r>
            <a:r>
              <a:rPr lang="zh-CN" altLang="en-US" sz="1200">
                <a:solidFill>
                  <a:srgbClr val="FF0000"/>
                </a:solidFill>
              </a:rPr>
              <a:t>单层构建。</a:t>
            </a:r>
            <a:r>
              <a:rPr lang="en-US" altLang="zh-CN" sz="1200">
                <a:solidFill>
                  <a:srgbClr val="FF0000"/>
                </a:solidFill>
                <a:hlinkClick r:id="rId4" action="ppaction://hlinkfile"/>
              </a:rPr>
              <a:t>https://github.com/karmada-io/karmada/blob/master/Makefile</a:t>
            </a: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0000"/>
                </a:solidFill>
              </a:rPr>
              <a:t>集中式的顶层构建入口，所有构建动作都通过脚本和 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命令直接完成，子目录之间不需要独立的 </a:t>
            </a:r>
            <a:r>
              <a:rPr lang="en-US" altLang="zh-CN" sz="1200">
                <a:solidFill>
                  <a:srgbClr val="FF0000"/>
                </a:solidFill>
              </a:rPr>
              <a:t>Makefile，</a:t>
            </a:r>
            <a:r>
              <a:rPr lang="zh-CN" altLang="en-US" sz="1200">
                <a:solidFill>
                  <a:srgbClr val="FF0000"/>
                </a:solidFill>
              </a:rPr>
              <a:t>依赖关系由 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模块系统统一管理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030" y="5593080"/>
            <a:ext cx="9901555" cy="1091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r>
              <a:rPr lang="en-US" altLang="zh-CN" sz="1200">
                <a:solidFill>
                  <a:srgbClr val="FF0000"/>
                </a:solidFill>
              </a:rPr>
              <a:t>hack/util.sh </a:t>
            </a:r>
            <a:r>
              <a:rPr lang="zh-CN" altLang="en-US" sz="1200">
                <a:solidFill>
                  <a:srgbClr val="FF0000"/>
                </a:solidFill>
              </a:rPr>
              <a:t>的 </a:t>
            </a:r>
            <a:r>
              <a:rPr lang="en-US" altLang="zh-CN" sz="1200">
                <a:solidFill>
                  <a:srgbClr val="FF0000"/>
                </a:solidFill>
              </a:rPr>
              <a:t>version_ldflags </a:t>
            </a:r>
            <a:r>
              <a:rPr lang="zh-CN" altLang="en-US" sz="1200">
                <a:solidFill>
                  <a:srgbClr val="FF0000"/>
                </a:solidFill>
              </a:rPr>
              <a:t>注入 </a:t>
            </a:r>
            <a:r>
              <a:rPr lang="en-US" altLang="zh-CN" sz="1200">
                <a:solidFill>
                  <a:srgbClr val="FF0000"/>
                </a:solidFill>
              </a:rPr>
              <a:t>BUILDDATE=$(date -u ...) </a:t>
            </a:r>
            <a:r>
              <a:rPr lang="zh-CN" altLang="en-US" sz="1200">
                <a:solidFill>
                  <a:srgbClr val="FF0000"/>
                </a:solidFill>
              </a:rPr>
              <a:t>时间戳，两次构建产物位级不同；未使用 </a:t>
            </a:r>
            <a:r>
              <a:rPr lang="en-US" altLang="zh-CN" sz="1200">
                <a:solidFill>
                  <a:srgbClr val="FF0000"/>
                </a:solidFill>
              </a:rPr>
              <a:t>SOURCE_DATE_EPOCH，</a:t>
            </a:r>
            <a:r>
              <a:rPr lang="zh-CN" altLang="en-US" sz="1200">
                <a:solidFill>
                  <a:srgbClr val="FF0000"/>
                </a:solidFill>
              </a:rPr>
              <a:t>也没有可复现构建文档。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https://github.com/karmada-io/karmada/blob/master/hack/util.sh [improvement]: </a:t>
            </a:r>
            <a:r>
              <a:rPr lang="zh-CN" altLang="en-US" sz="1200">
                <a:solidFill>
                  <a:srgbClr val="FF0000"/>
                </a:solidFill>
              </a:rPr>
              <a:t>将构建改为确定性：以 </a:t>
            </a:r>
            <a:r>
              <a:rPr lang="en-US" altLang="zh-CN" sz="1200">
                <a:solidFill>
                  <a:srgbClr val="FF0000"/>
                </a:solidFill>
              </a:rPr>
              <a:t>SOURCE_DATE_EPOCH </a:t>
            </a:r>
            <a:r>
              <a:rPr lang="zh-CN" altLang="en-US" sz="1200">
                <a:solidFill>
                  <a:srgbClr val="FF0000"/>
                </a:solidFill>
              </a:rPr>
              <a:t>固定 </a:t>
            </a:r>
            <a:r>
              <a:rPr lang="en-US" altLang="zh-CN" sz="1200">
                <a:solidFill>
                  <a:srgbClr val="FF0000"/>
                </a:solidFill>
              </a:rPr>
              <a:t>buildDate（</a:t>
            </a:r>
            <a:r>
              <a:rPr lang="zh-CN" altLang="en-US" sz="1200">
                <a:solidFill>
                  <a:srgbClr val="FF0000"/>
                </a:solidFill>
              </a:rPr>
              <a:t>或从版本/</a:t>
            </a:r>
            <a:r>
              <a:rPr lang="en-US" altLang="zh-CN" sz="1200">
                <a:solidFill>
                  <a:srgbClr val="FF0000"/>
                </a:solidFill>
              </a:rPr>
              <a:t>commit </a:t>
            </a:r>
            <a:r>
              <a:rPr lang="zh-CN" altLang="en-US" sz="1200">
                <a:solidFill>
                  <a:srgbClr val="FF0000"/>
                </a:solidFill>
              </a:rPr>
              <a:t>派生），记录 </a:t>
            </a:r>
            <a:r>
              <a:rPr lang="en-US" altLang="zh-CN" sz="1200">
                <a:solidFill>
                  <a:srgbClr val="FF0000"/>
                </a:solidFill>
              </a:rPr>
              <a:t>go build </a:t>
            </a:r>
            <a:r>
              <a:rPr lang="zh-CN" altLang="en-US" sz="1200">
                <a:solidFill>
                  <a:srgbClr val="FF0000"/>
                </a:solidFill>
              </a:rPr>
              <a:t>参数，发布可复现构建说明，并用同一提交两次构建比对验证 </a:t>
            </a:r>
            <a:r>
              <a:rPr lang="en-US" altLang="zh-CN" sz="1200">
                <a:solidFill>
                  <a:srgbClr val="FF0000"/>
                </a:solidFill>
              </a:rPr>
              <a:t>bit-for-bit </a:t>
            </a:r>
            <a:r>
              <a:rPr lang="zh-CN" altLang="en-US" sz="1200">
                <a:solidFill>
                  <a:srgbClr val="FF0000"/>
                </a:solidFill>
              </a:rPr>
              <a:t>一致。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5" y="1049655"/>
            <a:ext cx="6748780" cy="43897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763270"/>
            <a:ext cx="5331460" cy="1479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类别：项目内必须有一个以上的静态语言漏洞分析工具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在项目的 .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golangci.yml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配置中，明确启用了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gosec linter。gosec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是一个专门用于检查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Go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代码中安全漏洞的静态分析工具，能够发现常见问题，例如硬编码密码、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SQL 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注入、不安全的随机数生成、权限设置不当等。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https://github.com/karmada-io/karmada/blob/master/.golangci.yml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2631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类别：如果项目使用的编程语言是不安全语言编写，需要一个动态检测工具检测内存安全。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N/A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主要使用 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语言编写，而 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是内存安全的语言（具有垃圾回收、数组越界检查、自动内存管理等），不属于“内存不安全语言”（如 </a:t>
            </a:r>
            <a:r>
              <a:rPr lang="en-US" altLang="zh-CN" sz="1200">
                <a:solidFill>
                  <a:srgbClr val="FF0000"/>
                </a:solidFill>
              </a:rPr>
              <a:t>C/C++）。</a:t>
            </a: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0000"/>
                </a:solidFill>
              </a:rPr>
              <a:t>构建时禁用了 </a:t>
            </a:r>
            <a:r>
              <a:rPr lang="en-US" altLang="zh-CN" sz="1200">
                <a:solidFill>
                  <a:srgbClr val="FF0000"/>
                </a:solidFill>
              </a:rPr>
              <a:t>cgo：</a:t>
            </a:r>
            <a:r>
              <a:rPr lang="zh-CN" altLang="en-US" sz="1200">
                <a:solidFill>
                  <a:srgbClr val="FF0000"/>
                </a:solidFill>
              </a:rPr>
              <a:t>在 </a:t>
            </a:r>
            <a:r>
              <a:rPr lang="en-US" altLang="zh-CN" sz="1200">
                <a:solidFill>
                  <a:srgbClr val="FF0000"/>
                </a:solidFill>
              </a:rPr>
              <a:t>Karmada </a:t>
            </a:r>
            <a:r>
              <a:rPr lang="zh-CN" altLang="en-US" sz="1200">
                <a:solidFill>
                  <a:srgbClr val="FF0000"/>
                </a:solidFill>
              </a:rPr>
              <a:t>的构建脚本 </a:t>
            </a:r>
            <a:r>
              <a:rPr lang="en-US" altLang="zh-CN" sz="1200">
                <a:solidFill>
                  <a:srgbClr val="FF0000"/>
                </a:solidFill>
              </a:rPr>
              <a:t>hack/build.sh </a:t>
            </a:r>
            <a:r>
              <a:rPr lang="zh-CN" altLang="en-US" sz="1200">
                <a:solidFill>
                  <a:srgbClr val="FF0000"/>
                </a:solidFill>
              </a:rPr>
              <a:t>中，明确设置了 </a:t>
            </a:r>
            <a:r>
              <a:rPr lang="en-US" altLang="zh-CN" sz="1200">
                <a:solidFill>
                  <a:srgbClr val="FF0000"/>
                </a:solidFill>
              </a:rPr>
              <a:t>CGO_ENABLED=0，</a:t>
            </a:r>
            <a:r>
              <a:rPr lang="zh-CN" altLang="en-US" sz="1200">
                <a:solidFill>
                  <a:srgbClr val="FF0000"/>
                </a:solidFill>
              </a:rPr>
              <a:t>这意味着构建的二进制文件不包含任何 </a:t>
            </a:r>
            <a:r>
              <a:rPr lang="en-US" altLang="zh-CN" sz="1200">
                <a:solidFill>
                  <a:srgbClr val="FF0000"/>
                </a:solidFill>
              </a:rPr>
              <a:t>C </a:t>
            </a:r>
            <a:r>
              <a:rPr lang="zh-CN" altLang="en-US" sz="1200">
                <a:solidFill>
                  <a:srgbClr val="FF0000"/>
                </a:solidFill>
              </a:rPr>
              <a:t>代码，完全由 </a:t>
            </a:r>
            <a:r>
              <a:rPr lang="en-US" altLang="zh-CN" sz="1200">
                <a:solidFill>
                  <a:srgbClr val="FF0000"/>
                </a:solidFill>
              </a:rPr>
              <a:t>Go </a:t>
            </a:r>
            <a:r>
              <a:rPr lang="zh-CN" altLang="en-US" sz="1200">
                <a:solidFill>
                  <a:srgbClr val="FF0000"/>
                </a:solidFill>
              </a:rPr>
              <a:t>代码编译而成。</a:t>
            </a:r>
            <a:endParaRPr lang="zh-CN" altLang="en-US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20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200">
                <a:solidFill>
                  <a:srgbClr val="FF0000"/>
                </a:solidFill>
              </a:rPr>
              <a:t>证据：</a:t>
            </a:r>
            <a:r>
              <a:rPr lang="en-US" altLang="zh-CN" sz="1200">
                <a:solidFill>
                  <a:srgbClr val="FF0000"/>
                </a:solidFill>
              </a:rPr>
              <a:t>https://github.com/karmada-io/karmada/blob/master/hack/build.sh </a:t>
            </a:r>
            <a:r>
              <a:rPr lang="zh-CN" altLang="en-US" sz="1200">
                <a:solidFill>
                  <a:srgbClr val="FF0000"/>
                </a:solidFill>
              </a:rPr>
              <a:t>中的 </a:t>
            </a:r>
            <a:r>
              <a:rPr lang="en-US" altLang="zh-CN" sz="1200">
                <a:solidFill>
                  <a:srgbClr val="FF0000"/>
                </a:solidFill>
              </a:rPr>
              <a:t>CGO_ENABLED=0 GOOS=${os} GOARCH=${arch} go build ...</a:t>
            </a:r>
            <a:endParaRPr lang="en-US" altLang="zh-CN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" y="1397635"/>
            <a:ext cx="6153785" cy="28308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" y="1346200"/>
            <a:ext cx="6777355" cy="33667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" y="1247775"/>
            <a:ext cx="6737350" cy="43618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231900"/>
            <a:ext cx="6567170" cy="31051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826895"/>
            <a:ext cx="6081395" cy="230251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质量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" y="1826895"/>
            <a:ext cx="6383020" cy="1455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安全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87425"/>
            <a:ext cx="6676390" cy="13487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2301875"/>
            <a:ext cx="6460490" cy="42183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安全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" y="1621790"/>
            <a:ext cx="6247130" cy="28606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安全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" y="1675765"/>
            <a:ext cx="6576060" cy="2260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74345" y="182880"/>
            <a:ext cx="6202045" cy="866775"/>
          </a:xfrm>
        </p:spPr>
        <p:txBody>
          <a:bodyPr>
            <a:normAutofit fontScale="90000"/>
          </a:bodyPr>
          <a:p>
            <a:pPr marL="0" indent="0" algn="l"/>
            <a:r>
              <a:rPr lang="zh-CN" altLang="en-US"/>
              <a:t>安全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902450" y="399415"/>
            <a:ext cx="5331460" cy="1276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 </a:t>
            </a:r>
            <a:r>
              <a:rPr lang="zh-CN" altLang="en-US" sz="1200"/>
              <a:t>类别：</a:t>
            </a:r>
            <a:endParaRPr lang="en-US" altLang="zh-CN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Met:</a:t>
            </a:r>
            <a:endParaRPr lang="en-US" altLang="zh-CN" sz="1200">
              <a:solidFill>
                <a:srgbClr val="FF0000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02450" y="182689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Should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02450" y="3230245"/>
            <a:ext cx="533146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Met</a:t>
            </a:r>
            <a:r>
              <a:rPr lang="zh-CN" altLang="en-US" sz="1200">
                <a:solidFill>
                  <a:srgbClr val="FF0000"/>
                </a:solidFill>
              </a:rPr>
              <a:t>：</a:t>
            </a:r>
            <a:endParaRPr lang="en-US" altLang="zh-CN" sz="12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02450" y="4756785"/>
            <a:ext cx="5331460" cy="1763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ym typeface="+mn-ea"/>
              </a:rPr>
              <a:t>Must</a:t>
            </a:r>
            <a:r>
              <a:rPr lang="zh-CN" altLang="en-US" sz="1200"/>
              <a:t>类别：</a:t>
            </a:r>
            <a:r>
              <a:rPr lang="en-US" altLang="zh-CN" sz="1200"/>
              <a:t>		</a:t>
            </a:r>
            <a:endParaRPr lang="zh-CN" altLang="en-US" sz="12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>
                <a:solidFill>
                  <a:srgbClr val="FF0000"/>
                </a:solidFill>
              </a:rPr>
              <a:t>Unmet</a:t>
            </a:r>
            <a:r>
              <a:rPr lang="zh-CN" altLang="en-US" sz="1200">
                <a:solidFill>
                  <a:srgbClr val="FF0000"/>
                </a:solidFill>
              </a:rPr>
              <a:t>： </a:t>
            </a:r>
            <a:endParaRPr lang="zh-CN" altLang="en-US" sz="120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5" y="1360170"/>
            <a:ext cx="6832600" cy="32099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8773</Words>
  <Application>WPS 演示</Application>
  <PresentationFormat>宽屏</PresentationFormat>
  <Paragraphs>308</Paragraphs>
  <Slides>22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-apple-system</vt:lpstr>
      <vt:lpstr>FFont-Family</vt:lpstr>
      <vt:lpstr>Lato</vt:lpstr>
      <vt:lpstr>WPS</vt:lpstr>
      <vt:lpstr>PowerPoint 演示文稿</vt:lpstr>
      <vt:lpstr>Karmada OpenSSF Best Practices Silver</vt:lpstr>
      <vt:lpstr>总览统计</vt:lpstr>
      <vt:lpstr>Met</vt:lpstr>
      <vt:lpstr>项目监督</vt:lpstr>
      <vt:lpstr>项目监督</vt:lpstr>
      <vt:lpstr>文档</vt:lpstr>
      <vt:lpstr>文档</vt:lpstr>
      <vt:lpstr>无障碍和国际化</vt:lpstr>
      <vt:lpstr>其他和变更控制</vt:lpstr>
      <vt:lpstr>报告</vt:lpstr>
      <vt:lpstr>质量</vt:lpstr>
      <vt:lpstr>安全</vt:lpstr>
      <vt:lpstr>质量</vt:lpstr>
      <vt:lpstr>质量</vt:lpstr>
      <vt:lpstr>质量</vt:lpstr>
      <vt:lpstr>质量</vt:lpstr>
      <vt:lpstr>质量</vt:lpstr>
      <vt:lpstr>质量</vt:lpstr>
      <vt:lpstr>安全</vt:lpstr>
      <vt:lpstr>安全</vt:lpstr>
      <vt:lpstr>安全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沈思鹏</cp:lastModifiedBy>
  <cp:revision>287</cp:revision>
  <dcterms:created xsi:type="dcterms:W3CDTF">2019-06-19T02:08:00Z</dcterms:created>
  <dcterms:modified xsi:type="dcterms:W3CDTF">2026-08-31T06:47:50Z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380FF0DECA564122ACC3A3DCCEF1D1DE_11</vt:lpwstr>
  </property>
</Properties>
</file>